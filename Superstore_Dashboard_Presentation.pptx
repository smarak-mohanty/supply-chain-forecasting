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E5F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AE5F0"/>
                </a:solidFill>
                <a:latin typeface="Arial"/>
              </a:rPr>
              <a:t>Sales by Category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A8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3A-40D6-B625-6D9E6F6BFA16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3A-40D6-B625-6D9E6F6BFA16}"/>
              </c:ext>
            </c:extLst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3A-40D6-B625-6D9E6F6BFA1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742000</c:v>
                </c:pt>
                <c:pt idx="1">
                  <c:v>719000</c:v>
                </c:pt>
                <c:pt idx="2">
                  <c:v>836000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3A-40D6-B625-6D9E6F6BFA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3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E5F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AE5F0"/>
                </a:solidFill>
                <a:latin typeface="Arial"/>
              </a:rPr>
              <a:t>Profit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92-4324-AA33-318A7E95DE56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92-4324-AA33-318A7E95DE56}"/>
              </c:ext>
            </c:extLst>
          </c:dPt>
          <c:dPt>
            <c:idx val="2"/>
            <c:bubble3D val="0"/>
            <c:spPr>
              <a:solidFill>
                <a:srgbClr val="00D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92-4324-AA33-318A7E95DE5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92-4324-AA33-318A7E95DE5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92-4324-AA33-318A7E95DE5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92-4324-AA33-318A7E95DE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145454</c:v>
                </c:pt>
                <c:pt idx="1">
                  <c:v>122491</c:v>
                </c:pt>
                <c:pt idx="2">
                  <c:v>18451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92-4324-AA33-318A7E95D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AE5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3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E5F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AE5F0"/>
                </a:solidFill>
                <a:latin typeface="Arial"/>
              </a:rPr>
              <a:t>Customer Segment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3E-4456-BBA7-BC018998A004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3E-4456-BBA7-BC018998A004}"/>
              </c:ext>
            </c:extLst>
          </c:dPt>
          <c:dPt>
            <c:idx val="2"/>
            <c:bubble3D val="0"/>
            <c:spPr>
              <a:solidFill>
                <a:srgbClr val="00D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3E-4456-BBA7-BC018998A00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3E-4456-BBA7-BC018998A00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3E-4456-BBA7-BC018998A00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3E-4456-BBA7-BC018998A00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30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3E-4456-BBA7-BC018998A0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AE5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3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AE5F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AE5F0"/>
                </a:solidFill>
                <a:latin typeface="Arial"/>
              </a:rPr>
              <a:t>Avg Days to Ship by 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12-4407-8EC7-50C043AC39AB}"/>
              </c:ext>
            </c:extLst>
          </c:dPt>
          <c:dPt>
            <c:idx val="1"/>
            <c:invertIfNegative val="0"/>
            <c:bubble3D val="0"/>
            <c:spPr>
              <a:solidFill>
                <a:srgbClr val="00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12-4407-8EC7-50C043AC39AB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12-4407-8EC7-50C043AC39AB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12-4407-8EC7-50C043AC39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Same Day</c:v>
                </c:pt>
                <c:pt idx="1">
                  <c:v>First Class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2.2000000000000002</c:v>
                </c:pt>
                <c:pt idx="2">
                  <c:v>3.6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12-4407-8EC7-50C043AC39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3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10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132338"/>
          </a:solidFill>
          <a:ln w="254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00A8CC"/>
                </a:solidFill>
              </a:rPr>
              <a:t>SUPPLY CHAIN FORECASTING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A Complete Supply Chain Analysis With Power BI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flipV="1">
            <a:off x="1336431" y="2697480"/>
            <a:ext cx="6457071" cy="439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2454" y="3977640"/>
            <a:ext cx="2039817" cy="87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u="sng" dirty="0">
                <a:solidFill>
                  <a:srgbClr val="8FA8C0"/>
                </a:solidFill>
              </a:rPr>
              <a:t>Completed by :- 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8FA8C0"/>
                </a:solidFill>
              </a:rPr>
              <a:t>•  Smarak Mohanty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8FA8C0"/>
                </a:solidFill>
              </a:rPr>
              <a:t>• Sukhendu Dutta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51D4D3-27D4-CFF7-0E87-D3A4FA27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351" y="1"/>
            <a:ext cx="882649" cy="100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3B311AC3-FF44-A61D-2B56-03436B721607}"/>
              </a:ext>
            </a:extLst>
          </p:cNvPr>
          <p:cNvSpPr/>
          <p:nvPr/>
        </p:nvSpPr>
        <p:spPr>
          <a:xfrm>
            <a:off x="6654019" y="3879166"/>
            <a:ext cx="2159392" cy="87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u="sng" dirty="0">
                <a:solidFill>
                  <a:srgbClr val="8FA8C0"/>
                </a:solidFill>
              </a:rPr>
              <a:t>Guided by :- 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8FA8C0"/>
                </a:solidFill>
              </a:rPr>
              <a:t>•  Dr Satya Ranjan Pattanaik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CC"/>
                </a:solidFill>
              </a:rPr>
              <a:t>📊  Analyze Retail Sales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4747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Explore 10,000+ Superstore transactions across categories, regions &amp; segments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9418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CC"/>
                </a:solidFill>
              </a:rPr>
              <a:t>💡  Generate Business Insights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389888"/>
            <a:ext cx="34747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Uncover profitability drivers, loss areas &amp; customer behavior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CC"/>
                </a:solidFill>
              </a:rPr>
              <a:t>📈  Build PowerBI Dashboards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34747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4 interactive dashboards covering Sales, Profit, Customers &amp; Operations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11480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CC"/>
                </a:solidFill>
              </a:rPr>
              <a:t>🐍  Automate with Python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3493008"/>
            <a:ext cx="34747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Data preprocessing &amp; EDA scripts generating 80+ metrics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— SAMPLE SUPERSTORE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200400" cy="4114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</a:rPr>
              <a:t>Dataset Highlights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10,000+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Transaction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21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Data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US Regions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Customer Segments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Product 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069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CC"/>
                </a:solidFill>
              </a:rPr>
              <a:t>17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5F0"/>
                </a:solidFill>
              </a:rPr>
              <a:t>Sub-Categories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749808"/>
            <a:ext cx="237744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49040" y="749808"/>
            <a:ext cx="237744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0" y="841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8CC"/>
                </a:solidFill>
              </a:rPr>
              <a:t>Order Info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125272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Order 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Order Date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Ship Date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Ship Mode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749808"/>
            <a:ext cx="237744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355080" y="749808"/>
            <a:ext cx="23774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46520" y="841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Customer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125272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Customer 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Customer Name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Segment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Region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2852928"/>
            <a:ext cx="237744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749040" y="2852928"/>
            <a:ext cx="23774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0" y="2944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Product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86200" y="33558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Product 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Category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Sub-Category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Product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852928"/>
            <a:ext cx="2377440" cy="1828800"/>
          </a:xfrm>
          <a:prstGeom prst="rect">
            <a:avLst/>
          </a:prstGeom>
          <a:solidFill>
            <a:srgbClr val="132338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55080" y="2852928"/>
            <a:ext cx="23774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46520" y="2944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Metrics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3558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Sales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Quantity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Discount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Profit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METRICS SNAPSHOT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192024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$2.3M+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1025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73152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41448" y="731520"/>
            <a:ext cx="19202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84124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$286K+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87168" y="161025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73152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08576" y="73152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54296" y="84124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11.2%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54296" y="161025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75704" y="73152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775704" y="731520"/>
            <a:ext cx="192024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21424" y="84124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$453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21424" y="161025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19202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248716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500+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" y="325617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Unique Customers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41448" y="237744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441448" y="237744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87168" y="248716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1,800+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487168" y="325617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Products Listed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237744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08576" y="2377440"/>
            <a:ext cx="192024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54296" y="248716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4.2 days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54296" y="325617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Avg Days to Ship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75704" y="2377440"/>
            <a:ext cx="19202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775704" y="2377440"/>
            <a:ext cx="19202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21424" y="2487168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&lt; 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21424" y="3256178"/>
            <a:ext cx="18288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Loss-Making Orders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</a:rPr>
              <a:t>Based on Sample Superstore dataset · Multi-year US retail transactions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 1 — SALES PERFORMANCE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8600" y="731520"/>
            <a:ext cx="4023360" cy="4114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Purpose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Monitor revenue trends across regions, categories and segments in real-time.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</a:rPr>
              <a:t>KPI Cards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Total 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Total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Avg Order 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Profit Margin 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</a:rPr>
              <a:t>Visualizations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Sales Trend (Line – by Region)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Sales by Category (Pie/Bar)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▸  Top 10 Products (Table)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480560" y="777240"/>
          <a:ext cx="4434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480560" y="3749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</a:rPr>
              <a:t>Filters: Date Range  ·  Region  ·  Category  ·  Segment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 2 — PROFITABILITY ANALYSIS</a:t>
            </a:r>
            <a:endParaRPr lang="en-US" sz="1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206240" y="777240"/>
            <a:ext cx="21488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206240" y="777240"/>
            <a:ext cx="21488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251960" y="886968"/>
            <a:ext cx="2057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$286K+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251960" y="1655978"/>
            <a:ext cx="20574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29400" y="777240"/>
            <a:ext cx="21488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629400" y="777240"/>
            <a:ext cx="214884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0" y="886968"/>
            <a:ext cx="2057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11.2%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675120" y="1655978"/>
            <a:ext cx="20574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Margin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06240" y="2377440"/>
            <a:ext cx="21488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06240" y="2377440"/>
            <a:ext cx="21488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251960" y="2487168"/>
            <a:ext cx="2057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~18%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251960" y="3256178"/>
            <a:ext cx="20574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Loss Orders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29400" y="2377440"/>
            <a:ext cx="214884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629400" y="2377440"/>
            <a:ext cx="21488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675120" y="2487168"/>
            <a:ext cx="2057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$28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675120" y="3256178"/>
            <a:ext cx="205740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Avg Profit/Order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06240" y="3749040"/>
            <a:ext cx="466344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343400" y="3840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Key Insight: Technology drives 51% of total profit despite being 36% of sales.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Furniture has the lowest margin — high discount rates erode profitability.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</a:rPr>
              <a:t>Visualizations: Profit Trend Area Chart  ·  Waterfall by Category  ·  Discount vs Profit Scatter  ·  Loss Table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 3 — CUSTOMER ANALYSIS</a:t>
            </a:r>
            <a:endParaRPr lang="en-US" sz="1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023360" y="777240"/>
            <a:ext cx="22402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023360" y="777240"/>
            <a:ext cx="224028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069080" y="886968"/>
            <a:ext cx="2148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500+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069080" y="1655978"/>
            <a:ext cx="21488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37960" y="777240"/>
            <a:ext cx="22402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537960" y="777240"/>
            <a:ext cx="2240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583680" y="886968"/>
            <a:ext cx="2148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27%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1655978"/>
            <a:ext cx="21488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Repeat Customer Rate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3360" y="2377440"/>
            <a:ext cx="22402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023360" y="2377440"/>
            <a:ext cx="22402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069080" y="2487168"/>
            <a:ext cx="2148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$4,600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069080" y="3256178"/>
            <a:ext cx="21488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Avg Customer Value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37960" y="2377440"/>
            <a:ext cx="22402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537960" y="2377440"/>
            <a:ext cx="224028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83680" y="2487168"/>
            <a:ext cx="2148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Consumer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583680" y="3256178"/>
            <a:ext cx="21488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Top Segment Revenue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CC"/>
                </a:solidFill>
              </a:rPr>
              <a:t>Visualizations: </a:t>
            </a:r>
            <a:r>
              <a:rPr lang="en-US" sz="1000" dirty="0">
                <a:solidFill>
                  <a:srgbClr val="CAE5F0"/>
                </a:solidFill>
              </a:rPr>
              <a:t>Customer Distribution Pie  ·  CLV Bar Chart (Top 20)  ·  Regional Filled Map  ·  Repeat Purchase Gauge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 4 — OPERATIONAL EFFICIENCY</a:t>
            </a:r>
            <a:endParaRPr lang="en-US" sz="1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777240"/>
            <a:ext cx="20116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754880" y="777240"/>
            <a:ext cx="201168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800600" y="88696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4.2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800600" y="1655978"/>
            <a:ext cx="19202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Avg Days to Ship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40880" y="777240"/>
            <a:ext cx="20116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40880" y="777240"/>
            <a:ext cx="20116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86600" y="88696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&gt;70%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086600" y="1655978"/>
            <a:ext cx="19202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On-Time Rate (≤5d)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377440"/>
            <a:ext cx="20116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54880" y="237744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00600" y="248716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Standard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800600" y="3256178"/>
            <a:ext cx="19202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Dominant Mode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2377440"/>
            <a:ext cx="2011680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040880" y="2377440"/>
            <a:ext cx="2011680" cy="64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86600" y="248716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</a:rPr>
              <a:t>5,009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086600" y="3256178"/>
            <a:ext cx="1920240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5F0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822192"/>
            <a:ext cx="859536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5F0"/>
                </a:solidFill>
              </a:rPr>
              <a:t>Standard Class handles ~60% of all orders  ·  Same Day &amp; First Class offer premium speed at higher cost  ·  Target: reduce avg ship time below 4 days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PYTHON ANALYSIS PIPELINE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874520" cy="3108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874520" cy="5486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8328" y="850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8CC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Data Ingestion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73936"/>
            <a:ext cx="160020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Load Sample-Superstore.csv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10,000+ rows · 21 columns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2331720"/>
            <a:ext cx="27432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59152" y="21762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1874520" cy="3108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23160" y="777240"/>
            <a:ext cx="1874520" cy="5486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850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8CC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773936"/>
            <a:ext cx="160020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14600" y="18288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Clean types · handle nulls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Feature engineering · quality report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27432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07992" y="21762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1874520" cy="3108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777240"/>
            <a:ext cx="1874520" cy="5486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36008" y="850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8CC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Exploratory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773936"/>
            <a:ext cx="160020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18288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80+ metrics · 9 analysis sections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Outlier detection · trend discovery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331720"/>
            <a:ext cx="27432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56832" y="21762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777240"/>
            <a:ext cx="1874520" cy="3108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720840" y="777240"/>
            <a:ext cx="1874520" cy="5486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784848" y="850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8CC"/>
                </a:solidFill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2280" y="1298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PowerBI Ready Export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1773936"/>
            <a:ext cx="160020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12280" y="18288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Superstore_Cleaned.csv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DAX-ready metrics · dashboard specs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Pandas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3736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73736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NumPy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Matplotlib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6344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Seaborn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12648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Auto-Cleaning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4096512"/>
            <a:ext cx="1325880" cy="329184"/>
          </a:xfrm>
          <a:prstGeom prst="rect">
            <a:avLst/>
          </a:prstGeom>
          <a:solidFill>
            <a:srgbClr val="0F2A4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89520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C"/>
                </a:solidFill>
              </a:rPr>
              <a:t>Feature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PREPROCESSING — 9-STEP PIPELINE  (data_preprocessing.py)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1168" y="713232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713232"/>
            <a:ext cx="54864" cy="12984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7680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CC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768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" y="1152144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" y="120700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pd.read_csv() with UTF-8 / Latin-1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fallback encoding. Backup copy kept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via data.copy() before any changes.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45536" y="713232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45536" y="713232"/>
            <a:ext cx="54864" cy="1298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73552" y="7680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768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 Conversion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1152144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73552" y="120700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pd.to_datetime() on Order Date &amp;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Ship Date. pd.to_numeric() with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errors='coerce' on Sales, Qty, Profit.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713232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9904" y="713232"/>
            <a:ext cx="54864" cy="12984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7680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4A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1696" y="768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Value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152144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120700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isnull().sum() across all columns.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No imputation needed — dataset is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clean with zero missing values.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2157984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01168" y="2157984"/>
            <a:ext cx="54864" cy="12984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" y="22128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6B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Outlier Detection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" y="2596896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" y="26517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Rule-based checks: negative Sales,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Qty &lt; 1, Discount outside [0,1],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Ship Date &lt; Order Date flagged.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45536" y="2157984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145536" y="2157984"/>
            <a:ext cx="54864" cy="12984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73552" y="22128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CC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67328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73552" y="2596896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73552" y="26517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11 new columns derived from existing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fields. Temporal, financial &amp; binary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flag features created.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9904" y="2157984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089904" y="2157984"/>
            <a:ext cx="54864" cy="1298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0" y="22128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11696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 Standardisation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2596896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17920" y="26517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str.strip() on 8 text columns.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str.title() for Customer Name,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Product Name &amp; City fields.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1168" y="3602736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01168" y="3602736"/>
            <a:ext cx="54864" cy="12984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9184" y="3657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4AA"/>
                </a:solidFill>
              </a:rPr>
              <a:t>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Validation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" y="4041648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29184" y="409651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Row count, unique orders, customers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&amp; products verified. Date range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confirmed end-to-end.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45536" y="3602736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145536" y="3602736"/>
            <a:ext cx="54864" cy="12984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73552" y="3657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6B"/>
                </a:solidFill>
              </a:rPr>
              <a:t>08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767328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Summary Statistics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73552" y="4041648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73552" y="409651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Aggregates computed: total sales,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profit, avg margin, units sold,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repeat customers &amp; loss rate.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9904" y="3602736"/>
            <a:ext cx="2743200" cy="1298448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089904" y="3602736"/>
            <a:ext cx="54864" cy="12984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217920" y="36576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CC"/>
                </a:solidFill>
              </a:rPr>
              <a:t>09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711696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 &amp; QA Report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4041648"/>
            <a:ext cx="2487168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17920" y="409651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Cleaned CSV saved to data/processed/.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Auto-generated Data_Quality_Report.txt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with timestamped metrics.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ENGINEERING — 11 DERIVED COLUMNS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8600" y="713232"/>
            <a:ext cx="5074920" cy="420624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CC"/>
                </a:solidFill>
              </a:rPr>
              <a:t>New Column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0240" y="804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CC"/>
                </a:solidFill>
              </a:rPr>
              <a:t>Formula / Logic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75488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Days_to_Ship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1170432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20240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(Ship Date − Order Date).dt.days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150876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27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Profit_Margin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1508760"/>
            <a:ext cx="329184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20240" y="15270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/ Sales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8653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Profit_Margin_Pct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74520" y="1847088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0240" y="1865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(Profit / Sales × 100).round(2)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85416"/>
            <a:ext cx="150876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2037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Sales_per_Unit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74520" y="2185416"/>
            <a:ext cx="329184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920240" y="2203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/ Quantity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523744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5420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Discount_Amount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74520" y="2523744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920240" y="2542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× Discount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62072"/>
            <a:ext cx="150876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28803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Order_Year/Month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74520" y="2862072"/>
            <a:ext cx="329184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920240" y="2880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Date .dt.year / .dt.month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200400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218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Order_Month_Name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74520" y="3200400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920240" y="3218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Date .dt.strftime('%B')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538728"/>
            <a:ext cx="150876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3557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Order_Quarter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74520" y="3538728"/>
            <a:ext cx="329184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920240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'Q' + .dt.quarter.astype(str)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877056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38953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Order_Day_of_Week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74520" y="3877056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920240" y="3895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Date .dt.day_name()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215384"/>
            <a:ext cx="150876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4233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74520" y="4215384"/>
            <a:ext cx="3291840" cy="2743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920240" y="42336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(Profit &lt; 0).astype(int)  →  binary flag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553712"/>
            <a:ext cx="150876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65760" y="4572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High_Discount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74520" y="4553712"/>
            <a:ext cx="3291840" cy="274320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920240" y="4572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(Discount &gt; 0.2).astype(int)  →  binary flag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32120" y="713232"/>
            <a:ext cx="3383280" cy="9144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532120" y="713232"/>
            <a:ext cx="54864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650992" y="7772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8CC"/>
                </a:solidFill>
              </a:rPr>
              <a:t>Temporal Decomposition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650992" y="1088136"/>
            <a:ext cx="30175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650992" y="1133856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Breaking datetime into Year, Month, Quarter, Day-of-Week enables seasonality analysis — spot peak Q4 sales or slow Mondays.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32120" y="1783080"/>
            <a:ext cx="3383280" cy="9144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532120" y="178308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650992" y="18470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Financial Ratios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650992" y="2157984"/>
            <a:ext cx="30175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650992" y="2203704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Profit Margin % and Sales per Unit are derived KPIs used in PowerBI DAX measures, removing the need for complex formulas in the dashboard.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32120" y="2852928"/>
            <a:ext cx="3383280" cy="9144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532120" y="2852928"/>
            <a:ext cx="54864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650992" y="291693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</a:rPr>
              <a:t>Binary Flags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50992" y="3227832"/>
            <a:ext cx="30175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650992" y="3273552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Is_Loss and High_Discount are 0/1 integer columns — filter-friendly in PowerBI and usable as COUNT() aggregates for loss/discount reports.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32120" y="3922776"/>
            <a:ext cx="3383280" cy="9144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532120" y="3922776"/>
            <a:ext cx="54864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650992" y="398678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AA"/>
                </a:solidFill>
              </a:rPr>
              <a:t>Vectorised Operations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650992" y="4297680"/>
            <a:ext cx="301752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650992" y="434340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E5F0"/>
                </a:solidFill>
              </a:rPr>
              <a:t>All 11 features use Pandas vectorised column arithmetic — no Python loops — keeping preprocessing fast on 10,000+ rows.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STRUCTURE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4754880" cy="411480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supply/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8408" y="1734957"/>
            <a:ext cx="4965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│       </a:t>
            </a: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📊  Superstore_Cleaned.csv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207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 data/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8408" y="1490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</a:t>
            </a: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processed/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596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 analysis/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 exploratory_analysis.py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data_preprocessing.py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447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 dashboards/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Supplychain_dashboards.pbix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777240"/>
            <a:ext cx="356616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03520" y="777240"/>
            <a:ext cx="64008" cy="1188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0" y="868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A8CC"/>
                </a:solidFill>
              </a:rPr>
              <a:t>2</a:t>
            </a:r>
            <a:r>
              <a:rPr lang="en-US" sz="1800" b="1" dirty="0">
                <a:solidFill>
                  <a:srgbClr val="00A8CC"/>
                </a:solidFill>
              </a:rPr>
              <a:t> Files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Generated Documentation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527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Data Analysis Report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Data Preprocessing Report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167128"/>
            <a:ext cx="356616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03520" y="2167128"/>
            <a:ext cx="64008" cy="1188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CC"/>
                </a:solidFill>
              </a:rPr>
              <a:t>2 Scripts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Scripts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916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1,700+ lines of EDA &amp;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preprocessing code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3557016"/>
            <a:ext cx="356616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03520" y="3557016"/>
            <a:ext cx="64008" cy="1188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0" y="36484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CC"/>
                </a:solidFill>
              </a:rPr>
              <a:t>4 Designs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306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24 visualizations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FA8C0"/>
                </a:solidFill>
              </a:rPr>
              <a:t>across 4 PowerBI pages</a:t>
            </a:r>
            <a:endParaRPr lang="en-US" sz="9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9A91221C-4DB3-0506-4097-061EAFE373E6}"/>
              </a:ext>
            </a:extLst>
          </p:cNvPr>
          <p:cNvSpPr/>
          <p:nvPr/>
        </p:nvSpPr>
        <p:spPr>
          <a:xfrm>
            <a:off x="978408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A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 └── </a:t>
            </a: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raw/</a:t>
            </a:r>
            <a:endParaRPr lang="en-US" sz="95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E8DE9AFD-9101-7D2D-54D3-B6340AD31857}"/>
              </a:ext>
            </a:extLst>
          </p:cNvPr>
          <p:cNvSpPr/>
          <p:nvPr/>
        </p:nvSpPr>
        <p:spPr>
          <a:xfrm>
            <a:off x="1554481" y="2253762"/>
            <a:ext cx="4677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📊  Sample-Superstore.csv</a:t>
            </a:r>
            <a:endParaRPr lang="en-US" sz="95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77BEF225-70BE-7148-0FE3-4D1E0195FC7F}"/>
              </a:ext>
            </a:extLst>
          </p:cNvPr>
          <p:cNvSpPr/>
          <p:nvPr/>
        </p:nvSpPr>
        <p:spPr>
          <a:xfrm>
            <a:off x="699516" y="3986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📁  reports/</a:t>
            </a:r>
            <a:endParaRPr lang="en-US" sz="95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C18E70C6-DB73-122F-AB6F-0B8E71B8B7D4}"/>
              </a:ext>
            </a:extLst>
          </p:cNvPr>
          <p:cNvSpPr/>
          <p:nvPr/>
        </p:nvSpPr>
        <p:spPr>
          <a:xfrm>
            <a:off x="989838" y="42291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 exploratory_analysis_report.txt</a:t>
            </a:r>
            <a:endParaRPr lang="en-US" sz="95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5529EF79-6343-15C3-EE33-4E47E1733ADB}"/>
              </a:ext>
            </a:extLst>
          </p:cNvPr>
          <p:cNvSpPr/>
          <p:nvPr/>
        </p:nvSpPr>
        <p:spPr>
          <a:xfrm>
            <a:off x="989838" y="448741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data_preprocessing_report.txt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LEARNING OUTCOMES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4114800" cy="1965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54864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8CC"/>
                </a:solidFill>
              </a:rPr>
              <a:t>Business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KPI design &amp; tracking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Sales performance analysis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Profit optimization strategy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Customer segmentation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749808"/>
            <a:ext cx="4114800" cy="1965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Data Analysis (Python)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25272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Data cleaning &amp; EDA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Feature engineering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Statistical analysis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Automated reporting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98648"/>
            <a:ext cx="4114800" cy="1965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41148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</a:rPr>
              <a:t>PowerBI Skills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Data modeling &amp; DAX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Interactive dashboards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Slicer &amp; cross-filtering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Publishing &amp; sharing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898648"/>
            <a:ext cx="4114800" cy="1965960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9160" y="2898648"/>
            <a:ext cx="4114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Domain Knowledge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Supply chain efficiency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Retail analytics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Regional performance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E5F0"/>
                </a:solidFill>
              </a:rPr>
              <a:t>✔  Discount impact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5237" y="1805587"/>
            <a:ext cx="4009292" cy="965747"/>
          </a:xfrm>
          <a:prstGeom prst="rect">
            <a:avLst/>
          </a:prstGeom>
          <a:solidFill>
            <a:srgbClr val="132338"/>
          </a:solidFill>
          <a:ln w="19050">
            <a:solidFill>
              <a:srgbClr val="1E3A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5236" y="2686247"/>
            <a:ext cx="4009291" cy="6398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61067" y="2114724"/>
            <a:ext cx="26218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A623"/>
                </a:solidFill>
              </a:rPr>
              <a:t>Thank You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2158" y="2533767"/>
            <a:ext cx="2423160" cy="0"/>
          </a:xfrm>
          <a:prstGeom prst="line">
            <a:avLst/>
          </a:prstGeom>
          <a:noFill/>
          <a:ln w="12700">
            <a:solidFill>
              <a:srgbClr val="1E3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1228</Words>
  <Application>Microsoft Office PowerPoint</Application>
  <PresentationFormat>On-screen Show (16:9)</PresentationFormat>
  <Paragraphs>292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Data Analysis &amp; PowerBI Dashboard Project</dc:title>
  <dc:subject>PptxGenJS Presentation</dc:subject>
  <dc:creator>Smarak</dc:creator>
  <cp:lastModifiedBy>Smarak Mohanty</cp:lastModifiedBy>
  <cp:revision>3</cp:revision>
  <dcterms:created xsi:type="dcterms:W3CDTF">2026-04-15T03:52:06Z</dcterms:created>
  <dcterms:modified xsi:type="dcterms:W3CDTF">2026-04-15T10:37:02Z</dcterms:modified>
</cp:coreProperties>
</file>